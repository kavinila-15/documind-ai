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4" r:id="rId12"/>
    <p:sldId id="266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58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5E01-4B2D-CECF-DE2C-87342586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C5F81-D0FD-2525-3D4D-0133DECFC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CCA4A-08B2-0159-1750-E347B699D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9341A-A895-DF2C-D37C-6BCDE191E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64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1399-E03C-61B6-5424-8A988C0C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57E4E-D633-31C0-099E-4086759EC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D3A7B-E346-2F05-C635-FEFC1A028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4789-1750-F605-057E-1E1C1B82A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99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B6AD-CEBF-85F2-7F66-547FAAFE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C2B62-0CC5-A1A9-32A7-879C23BF7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7A4C4-604B-3712-849E-A9142C109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410C-420A-6FA8-44D5-C5BCFCE50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01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50800" y="-151440"/>
            <a:ext cx="316027" cy="177606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54800" y="0"/>
            <a:ext cx="2286000" cy="2286000"/>
          </a:xfrm>
          <a:prstGeom prst="ellipse">
            <a:avLst/>
          </a:prstGeom>
          <a:solidFill>
            <a:srgbClr val="0E6B7C">
              <a:alpha val="40000"/>
            </a:srgbClr>
          </a:solidFill>
          <a:ln w="12700">
            <a:solidFill>
              <a:srgbClr val="0E6B7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560320"/>
            <a:ext cx="1645920" cy="1645920"/>
          </a:xfrm>
          <a:prstGeom prst="ellipse">
            <a:avLst/>
          </a:prstGeom>
          <a:solidFill>
            <a:srgbClr val="2BB5C8">
              <a:alpha val="30000"/>
            </a:srgbClr>
          </a:solidFill>
          <a:ln w="12700">
            <a:solidFill>
              <a:srgbClr val="2BB5C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3200400"/>
            <a:ext cx="1097280" cy="1097280"/>
          </a:xfrm>
          <a:prstGeom prst="ellipse">
            <a:avLst/>
          </a:prstGeom>
          <a:solidFill>
            <a:srgbClr val="E8B94F">
              <a:alpha val="35000"/>
            </a:srgbClr>
          </a:solidFill>
          <a:ln w="12700">
            <a:solidFill>
              <a:srgbClr val="E8B94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498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 AI</a:t>
            </a:r>
            <a:endParaRPr lang="en-US" b="1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DOCUMENT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Academic Research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AI assistant that reads uploaded research PDFs, answers complex questions, and always provides page-level citations.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1645920" cy="27432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325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KAVINILA 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6268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1645920" cy="1645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Citation-Grounded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Hallucination-Free</a:t>
            </a:r>
            <a:endParaRPr lang="en-US" sz="1200" dirty="0"/>
          </a:p>
        </p:txBody>
      </p:sp>
      <p:pic>
        <p:nvPicPr>
          <p:cNvPr id="1030" name="Picture 6" descr="SNS Logo">
            <a:extLst>
              <a:ext uri="{FF2B5EF4-FFF2-40B4-BE49-F238E27FC236}">
                <a16:creationId xmlns:a16="http://schemas.microsoft.com/office/drawing/2014/main" id="{5D62833A-10DA-FB6C-D651-A1B4CFFE5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92" y="133350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NS College Logo">
            <a:extLst>
              <a:ext uri="{FF2B5EF4-FFF2-40B4-BE49-F238E27FC236}">
                <a16:creationId xmlns:a16="http://schemas.microsoft.com/office/drawing/2014/main" id="{A0B275B8-2031-02A5-7764-D61380A92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250" y="8210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3564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8288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618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Hallucination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190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are incredibly intelligent but inherently prone to hallucinating facts out of thin air when they lack specific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15568"/>
            <a:ext cx="4023360" cy="1051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15568"/>
            <a:ext cx="73152" cy="105156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492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5544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are prone to hallucinating facts — an unacceptable risk for academic and professional use.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350008"/>
            <a:ext cx="4023360" cy="1051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350008"/>
            <a:ext cx="73152" cy="105156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492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27889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researchers require 100% cited, fact-grounded answers from their own documents.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584448"/>
            <a:ext cx="4023360" cy="1051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584448"/>
            <a:ext cx="73152" cy="105156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402336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RAG-based AI assistant that reads uploaded research PDFs and forcibly returns 'I don't know' if the answer is missing.</a:t>
            </a:r>
            <a:endParaRPr lang="en-US" sz="1000" dirty="0"/>
          </a:p>
        </p:txBody>
      </p:sp>
      <p:pic>
        <p:nvPicPr>
          <p:cNvPr id="24" name="Picture 6" descr="SNS Logo">
            <a:extLst>
              <a:ext uri="{FF2B5EF4-FFF2-40B4-BE49-F238E27FC236}">
                <a16:creationId xmlns:a16="http://schemas.microsoft.com/office/drawing/2014/main" id="{6A2831AC-A577-473B-FE4F-BEEAEDA59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SNS College Logo">
            <a:extLst>
              <a:ext uri="{FF2B5EF4-FFF2-40B4-BE49-F238E27FC236}">
                <a16:creationId xmlns:a16="http://schemas.microsoft.com/office/drawing/2014/main" id="{7B90853B-4E54-D3A5-B374-3FD2C372E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4924" y="10331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5448" y="3547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RAG pipeline designed for strict, citation-grounded document question answering.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73152" cy="749808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6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" y="184708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parsed via LangChain's PyPDFLoader. Filename and exact page number attached to metadata before chunking.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40864"/>
            <a:ext cx="73152" cy="749808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0545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432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43000" y="27249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spell-checked via TextBlob to prevent retrieval misses before embedding lookup.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218688"/>
            <a:ext cx="8412480" cy="74980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218688"/>
            <a:ext cx="73152" cy="749808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83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43000" y="360273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chunked via RecursiveCharacterTextSplitter and stored locally in a FAISS Vector Database.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4096512"/>
            <a:ext cx="8412480" cy="74980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4096512"/>
            <a:ext cx="73152" cy="749808"/>
          </a:xfrm>
          <a:prstGeom prst="rect">
            <a:avLst/>
          </a:prstGeom>
          <a:solidFill>
            <a:srgbClr val="C82B8A"/>
          </a:solidFill>
          <a:ln w="12700">
            <a:solidFill>
              <a:srgbClr val="C82B8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61104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2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GENERATION → UI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3000" y="44805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Multi-strategy retrieval fetches Top-5 chunks. Google Gemini generates responses. Streamlit UI ties it together.</a:t>
            </a:r>
            <a:endParaRPr lang="en-US" sz="1050" dirty="0"/>
          </a:p>
        </p:txBody>
      </p:sp>
      <p:pic>
        <p:nvPicPr>
          <p:cNvPr id="26" name="Picture 8" descr="SNS College Logo">
            <a:extLst>
              <a:ext uri="{FF2B5EF4-FFF2-40B4-BE49-F238E27FC236}">
                <a16:creationId xmlns:a16="http://schemas.microsoft.com/office/drawing/2014/main" id="{AACC79B9-147D-B658-D4D5-007B3591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SNS Logo">
            <a:extLst>
              <a:ext uri="{FF2B5EF4-FFF2-40B4-BE49-F238E27FC236}">
                <a16:creationId xmlns:a16="http://schemas.microsoft.com/office/drawing/2014/main" id="{26C4E263-EC19-42D8-D5D9-A3134A91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7774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Parsing &amp; Chunking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PDFs to indexed, retrievable chunks — every step is engineered to preserve meaning and enable accurate citation.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38988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73152" cy="1389888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Papers dataset. LangChain's PyPDFLoader handles raw string extraction. Filename and exact page integer are attached to metadata before chunking occurs.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4114800" cy="138988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73152" cy="1389888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727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 — Fine-Grained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3776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700, Overlap: 80. Preserves high granularity. Excellent for pinpoint factual extraction. May break continuity in longer arguments.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944368"/>
            <a:ext cx="4114800" cy="138988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944368"/>
            <a:ext cx="73152" cy="1389888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5409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035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 — Narrative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34472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en-US" sz="100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1000</a:t>
            </a: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Overlap</a:t>
            </a:r>
            <a:r>
              <a:rPr lang="en-US" sz="100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</a:t>
            </a: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Retains larger narrative structure. Highly useful when queries demand understanding of long methodology paragraphs.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944368"/>
            <a:ext cx="4114800" cy="1389888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944368"/>
            <a:ext cx="73152" cy="1389888"/>
          </a:xfrm>
          <a:prstGeom prst="rect">
            <a:avLst/>
          </a:prstGeom>
          <a:solidFill>
            <a:srgbClr val="C87B2B"/>
          </a:solidFill>
          <a:ln w="12700">
            <a:solidFill>
              <a:srgbClr val="C87B2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5409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35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Recursive Splitting?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937760" y="34472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respects sentence boundaries, preventing semantic loss during splits and preserving the coherence of extracted context.</a:t>
            </a:r>
            <a:endParaRPr lang="en-US" sz="1000" dirty="0"/>
          </a:p>
        </p:txBody>
      </p:sp>
      <p:pic>
        <p:nvPicPr>
          <p:cNvPr id="26" name="Picture 8" descr="SNS College Logo">
            <a:extLst>
              <a:ext uri="{FF2B5EF4-FFF2-40B4-BE49-F238E27FC236}">
                <a16:creationId xmlns:a16="http://schemas.microsoft.com/office/drawing/2014/main" id="{F26E7C5F-1752-18D6-03C9-291ECCEB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SNS Logo">
            <a:extLst>
              <a:ext uri="{FF2B5EF4-FFF2-40B4-BE49-F238E27FC236}">
                <a16:creationId xmlns:a16="http://schemas.microsoft.com/office/drawing/2014/main" id="{92E5B66E-9C6B-C3D7-C1AE-3CF4416C9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25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4924" y="3749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Compared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local inference vs. commercial cloud — both options available to the user via a live UI toggle.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743200" cy="502920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FREE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743200"/>
            <a:ext cx="2523744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834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108960"/>
            <a:ext cx="2523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Exceptionally fast and highly reliable for standard academic text mapping. Preferred for local data privacy.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74320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2743200" cy="50292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COMMERCIAL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2743200"/>
            <a:ext cx="2523744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834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108960"/>
            <a:ext cx="2523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semantic and handles deeply complex queries, but relies on rate-limited cloud servers.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463040"/>
            <a:ext cx="274320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463040"/>
            <a:ext cx="2743200" cy="50292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1928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81928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81928" y="2743200"/>
            <a:ext cx="2523744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834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1928" y="3108960"/>
            <a:ext cx="2523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BAAI is preferred for local data privacy and speed. A UI toggle lets users instantly swap to Gemini for complex semantic queries.</a:t>
            </a:r>
            <a:endParaRPr lang="en-US" sz="1050" dirty="0"/>
          </a:p>
        </p:txBody>
      </p:sp>
      <p:pic>
        <p:nvPicPr>
          <p:cNvPr id="30" name="Picture 8" descr="SNS College Logo">
            <a:extLst>
              <a:ext uri="{FF2B5EF4-FFF2-40B4-BE49-F238E27FC236}">
                <a16:creationId xmlns:a16="http://schemas.microsoft.com/office/drawing/2014/main" id="{9CACD9F0-A2F7-D0E8-FCC5-789A42DCE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SNS Logo">
            <a:extLst>
              <a:ext uri="{FF2B5EF4-FFF2-40B4-BE49-F238E27FC236}">
                <a16:creationId xmlns:a16="http://schemas.microsoft.com/office/drawing/2014/main" id="{C80C29D2-ED0D-A838-BF6E-E6CCBAD0C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439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3566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&amp; Retrieval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102E3A"/>
          </a:solidFill>
          <a:ln w="12700">
            <a:solidFill>
              <a:srgbClr val="E8B9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73152" cy="804672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612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247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Facebook AI Similarity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46304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Lightning-fast, local in-memory vector index. No cloud dependency, keeping documents private and lookups near-instant.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011680"/>
            <a:ext cx="4114800" cy="141732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011680"/>
            <a:ext cx="73152" cy="141732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57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— Cosine Similarity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2487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vector similarity. Fetches exact semantic hits, but results can be highly redundant when the same paragraph dominates the top results.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2011680"/>
            <a:ext cx="4114800" cy="141732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2011680"/>
            <a:ext cx="73152" cy="1417320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103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2057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— Max Marginal Relevance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937760" y="2487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relevance with diversity. Highly effective at pulling context from multiple different pages rather than overlapping the same passage repeatedly.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566160"/>
            <a:ext cx="8412480" cy="658368"/>
          </a:xfrm>
          <a:prstGeom prst="rect">
            <a:avLst/>
          </a:prstGeom>
          <a:solidFill>
            <a:srgbClr val="0A3D4D"/>
          </a:solidFill>
          <a:ln w="12700">
            <a:solidFill>
              <a:srgbClr val="2BB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6576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621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Toggle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15568" y="38953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are exposed as a live toggle in Streamlit, allowing users to tune retrieval for their specific query — factual lookup vs. broad synthesis.</a:t>
            </a:r>
            <a:endParaRPr lang="en-US" sz="1050" dirty="0"/>
          </a:p>
        </p:txBody>
      </p:sp>
      <p:pic>
        <p:nvPicPr>
          <p:cNvPr id="24" name="Picture 8" descr="SNS College Logo">
            <a:extLst>
              <a:ext uri="{FF2B5EF4-FFF2-40B4-BE49-F238E27FC236}">
                <a16:creationId xmlns:a16="http://schemas.microsoft.com/office/drawing/2014/main" id="{2E18AE01-FC71-07AB-2D38-5E7FFA5D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SNS Logo">
            <a:extLst>
              <a:ext uri="{FF2B5EF4-FFF2-40B4-BE49-F238E27FC236}">
                <a16:creationId xmlns:a16="http://schemas.microsoft.com/office/drawing/2014/main" id="{F07BBE6D-9A9A-7A7A-F144-CC49B8A82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A24F8-45C7-74C4-F092-DCC7E42A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FB07ACFA-2961-DD1B-FA17-2A5B2F34DF35}"/>
              </a:ext>
            </a:extLst>
          </p:cNvPr>
          <p:cNvSpPr/>
          <p:nvPr/>
        </p:nvSpPr>
        <p:spPr>
          <a:xfrm>
            <a:off x="42976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FREE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E85728F-EFD4-E01D-A782-E0E7433CDA5D}"/>
              </a:ext>
            </a:extLst>
          </p:cNvPr>
          <p:cNvSpPr/>
          <p:nvPr/>
        </p:nvSpPr>
        <p:spPr>
          <a:xfrm>
            <a:off x="335584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COMMERCIAL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46CE71-3969-253A-5EFF-1E80FFBFB66C}"/>
              </a:ext>
            </a:extLst>
          </p:cNvPr>
          <p:cNvSpPr/>
          <p:nvPr/>
        </p:nvSpPr>
        <p:spPr>
          <a:xfrm>
            <a:off x="6281928" y="1517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E899F-A724-FE5B-2126-54D2898F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6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087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&amp; Prompt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LLM behavior through a rigid system prompt is the core mechanism that eliminates hallucinations.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Google Gemini (gemini-1.5-flash / gemini-2.0-flash)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754880" cy="9144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73152" cy="91440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Context-Only Grounding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ONLY on provided context chunks. External knowledge is strictly prohibited.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754880" cy="9144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73152" cy="91440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Abstention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'I don't know' explicitly if the context chunks do not contain the answer.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754880" cy="9144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73152" cy="914400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Citation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must formally cite the source document and exact page number.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9240" y="1417320"/>
            <a:ext cx="3429000" cy="109728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27048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893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Typo Correction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0" y="192024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Spell-checking via TextBlob occurs before embedding lookup, ensuring typos like 'ddeep learning' never cause retrieval failures.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49240" y="2651760"/>
            <a:ext cx="3429000" cy="109728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761488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98932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Session-State Caching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0" y="315468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queries instantly return cached responses, saving API tokens and dramatically reducing latency for repeated lookups.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349240" y="3886200"/>
            <a:ext cx="3429000" cy="109728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995928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98932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0" y="438912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window of the last 4 messages is passed to the LLM, enabling contextual follow-up questions within the same session.</a:t>
            </a:r>
            <a:endParaRPr lang="en-US" sz="1000" dirty="0"/>
          </a:p>
        </p:txBody>
      </p:sp>
      <p:pic>
        <p:nvPicPr>
          <p:cNvPr id="34" name="Picture 8" descr="SNS College Logo">
            <a:extLst>
              <a:ext uri="{FF2B5EF4-FFF2-40B4-BE49-F238E27FC236}">
                <a16:creationId xmlns:a16="http://schemas.microsoft.com/office/drawing/2014/main" id="{61C829FA-217C-60D5-7BC7-A75FC50AE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SNS Logo">
            <a:extLst>
              <a:ext uri="{FF2B5EF4-FFF2-40B4-BE49-F238E27FC236}">
                <a16:creationId xmlns:a16="http://schemas.microsoft.com/office/drawing/2014/main" id="{CFFBAC86-6F75-0B81-3229-4DC4D1909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EE7BA-A7AB-6578-BD81-2B2D2314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69FF660-85B9-B660-8597-77427656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2" name="Picture 6" descr="SNS Logo">
            <a:extLst>
              <a:ext uri="{FF2B5EF4-FFF2-40B4-BE49-F238E27FC236}">
                <a16:creationId xmlns:a16="http://schemas.microsoft.com/office/drawing/2014/main" id="{602668E5-B9C6-994E-7746-ABBE7D611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SNS College Logo">
            <a:extLst>
              <a:ext uri="{FF2B5EF4-FFF2-40B4-BE49-F238E27FC236}">
                <a16:creationId xmlns:a16="http://schemas.microsoft.com/office/drawing/2014/main" id="{100290CF-0F94-5B10-53B9-17A4ACBC9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59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7250" y="10026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01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 Demo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queries validate the core behavior: accurate retrieval, hallucination refusal, and typo resilience.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8892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788920" cy="411480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Factual Extraction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"Describe the methodology used in the experiments."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2514600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90672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extracts steps mapped to [Document 1] Page 4 with accurate page-level citation.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64408" y="1463040"/>
            <a:ext cx="278892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64408" y="1463040"/>
            <a:ext cx="2788920" cy="41148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74136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Out-of-Scope Refusal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01568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01568" y="22128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the president of the United States?"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01568" y="2999232"/>
            <a:ext cx="2514600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090672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67328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01568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know. The answer is not available in the uploaded document." — Model successfully refused out-of-bounds knowledge.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08776" y="1463040"/>
            <a:ext cx="2788920" cy="333756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08776" y="1463040"/>
            <a:ext cx="2788920" cy="41148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18504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Typo Correction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345936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45936" y="22128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"ddeep learning"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345936" y="2999232"/>
            <a:ext cx="2514600" cy="27432"/>
          </a:xfrm>
          <a:prstGeom prst="rect">
            <a:avLst/>
          </a:prstGeom>
          <a:solidFill>
            <a:srgbClr val="0E6B7C"/>
          </a:solidFill>
          <a:ln w="12700">
            <a:solidFill>
              <a:srgbClr val="0E6B7C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090672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11696" y="3090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B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345936" y="34107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autocorrected to "deep learning", retrieved successfully, and cited accurately.</a:t>
            </a:r>
            <a:endParaRPr lang="en-US" sz="1000" dirty="0"/>
          </a:p>
        </p:txBody>
      </p:sp>
      <p:pic>
        <p:nvPicPr>
          <p:cNvPr id="33" name="Picture 8" descr="SNS College Logo">
            <a:extLst>
              <a:ext uri="{FF2B5EF4-FFF2-40B4-BE49-F238E27FC236}">
                <a16:creationId xmlns:a16="http://schemas.microsoft.com/office/drawing/2014/main" id="{B9FF3B43-792A-99F2-60C7-BD461C937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SNS Logo">
            <a:extLst>
              <a:ext uri="{FF2B5EF4-FFF2-40B4-BE49-F238E27FC236}">
                <a16:creationId xmlns:a16="http://schemas.microsoft.com/office/drawing/2014/main" id="{420BC96A-19C2-A39B-D309-11AEFA693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4924" y="1038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7774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 &amp; Challenges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 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789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16002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73152" cy="160020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276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554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993392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chat-history buffer inside Streamlit's st.session_state. The pipeline passes a rolling window of the last 4 messages back to the LLM, enabling contextual follow-up questions.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3246120"/>
            <a:ext cx="4114800" cy="16002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246120"/>
            <a:ext cx="73152" cy="1600200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55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337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Web UI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" y="3776472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responsive Streamlit web application with user controls, status badges, database replacement toggles, and collapsible citation elements.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0" y="1463040"/>
            <a:ext cx="4023360" cy="16002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463040"/>
            <a:ext cx="73152" cy="160020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7276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1554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 (HTTP 429)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83480" y="1993392"/>
            <a:ext cx="3657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exceptions were implemented, recommending the user downscale the model size inside the app when Google GenAI endpoints throttle.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246120"/>
            <a:ext cx="4023360" cy="160020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246120"/>
            <a:ext cx="73152" cy="160020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5584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337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Misalignment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83480" y="3776472"/>
            <a:ext cx="3657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 misalignment when appending chunks with a different model was solved by building embedding_method.txt metadata config tracking to protect FAISS index loading.</a:t>
            </a:r>
            <a:endParaRPr lang="en-US" sz="1050" dirty="0"/>
          </a:p>
        </p:txBody>
      </p:sp>
      <p:pic>
        <p:nvPicPr>
          <p:cNvPr id="27" name="Picture 8" descr="SNS College Logo">
            <a:extLst>
              <a:ext uri="{FF2B5EF4-FFF2-40B4-BE49-F238E27FC236}">
                <a16:creationId xmlns:a16="http://schemas.microsoft.com/office/drawing/2014/main" id="{D11500EB-B734-93C9-369E-2FB86F9E5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SNS Logo">
            <a:extLst>
              <a:ext uri="{FF2B5EF4-FFF2-40B4-BE49-F238E27FC236}">
                <a16:creationId xmlns:a16="http://schemas.microsoft.com/office/drawing/2014/main" id="{666C98E5-42AC-B3AF-AE7A-7E2B4CDDA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AF98A-B385-9114-C3BC-18E674AC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AB8F4C-3EDA-0C3C-44ED-BA52F011B62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3A1BEC-A702-4CFF-8AEF-B00211E17312}"/>
              </a:ext>
            </a:extLst>
          </p:cNvPr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CDAB8E-7E4A-7B11-0DF8-6D4F84837E7D}"/>
              </a:ext>
            </a:extLst>
          </p:cNvPr>
          <p:cNvSpPr/>
          <p:nvPr/>
        </p:nvSpPr>
        <p:spPr>
          <a:xfrm>
            <a:off x="802640" y="3246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</a:t>
            </a:r>
            <a:endParaRPr lang="en-US" sz="3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1366BED-3AAA-1D27-C1E1-6E0BBA30A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9144000" cy="4163280"/>
          </a:xfrm>
          <a:prstGeom prst="rect">
            <a:avLst/>
          </a:prstGeom>
        </p:spPr>
      </p:pic>
      <p:pic>
        <p:nvPicPr>
          <p:cNvPr id="5" name="Picture 8" descr="SNS College Logo">
            <a:extLst>
              <a:ext uri="{FF2B5EF4-FFF2-40B4-BE49-F238E27FC236}">
                <a16:creationId xmlns:a16="http://schemas.microsoft.com/office/drawing/2014/main" id="{FDF27033-F0BB-C61E-E074-BB4479CB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NS Logo">
            <a:extLst>
              <a:ext uri="{FF2B5EF4-FFF2-40B4-BE49-F238E27FC236}">
                <a16:creationId xmlns:a16="http://schemas.microsoft.com/office/drawing/2014/main" id="{7E533A35-7F29-D08C-4E4C-247C61C7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64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5C"/>
          </a:solidFill>
          <a:ln w="12700">
            <a:solidFill>
              <a:srgbClr val="0A4D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264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production-grade, highly reliable academic agent capable of synthesizing research securely, rejecting out-of-context requests, and proving its own claims through citations.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804672"/>
          </a:xfrm>
          <a:prstGeom prst="rect">
            <a:avLst/>
          </a:prstGeom>
          <a:solidFill>
            <a:srgbClr val="0A3D4D"/>
          </a:solidFill>
          <a:ln w="12700">
            <a:solidFill>
              <a:srgbClr val="2BB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73152" cy="804672"/>
          </a:xfrm>
          <a:prstGeom prst="rect">
            <a:avLst/>
          </a:prstGeom>
          <a:solidFill>
            <a:srgbClr val="2BB5C8"/>
          </a:solidFill>
          <a:ln w="12700">
            <a:solidFill>
              <a:srgbClr val="2BB5C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5568" y="18745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strict, citation-enforced RAG pipeline with multi-strategy retrieval, typo correction, session caching, conversational memory, and a polished Streamlit UI.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487168"/>
            <a:ext cx="4114800" cy="233172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487168"/>
            <a:ext cx="4114800" cy="438912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5237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Retrieval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999232"/>
            <a:ext cx="3246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extraction of charts and graphs from research PDFs, extending the agent beyond text-only content into full document comprehension.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2487168"/>
            <a:ext cx="4114800" cy="2331720"/>
          </a:xfrm>
          <a:prstGeom prst="rect">
            <a:avLst/>
          </a:prstGeom>
          <a:solidFill>
            <a:srgbClr val="102E3A"/>
          </a:solidFill>
          <a:ln w="12700">
            <a:solidFill>
              <a:srgbClr val="0E6B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2487168"/>
            <a:ext cx="4114800" cy="438912"/>
          </a:xfrm>
          <a:prstGeom prst="rect">
            <a:avLst/>
          </a:prstGeom>
          <a:solidFill>
            <a:srgbClr val="2BB57A"/>
          </a:solidFill>
          <a:ln w="12700">
            <a:solidFill>
              <a:srgbClr val="2BB5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92040" y="25237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0358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2999232"/>
            <a:ext cx="32461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PDF context is insufficient, a strictly constrained fallback to a global Web Search agent would allow the system to acknowledge its limits and retrieve safely from the open web.</a:t>
            </a:r>
            <a:endParaRPr lang="en-US" sz="1100" dirty="0"/>
          </a:p>
        </p:txBody>
      </p:sp>
      <p:pic>
        <p:nvPicPr>
          <p:cNvPr id="21" name="Picture 8" descr="SNS College Logo">
            <a:extLst>
              <a:ext uri="{FF2B5EF4-FFF2-40B4-BE49-F238E27FC236}">
                <a16:creationId xmlns:a16="http://schemas.microsoft.com/office/drawing/2014/main" id="{EB3709C3-F9C9-0AB0-394E-9B2120736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105" y="115180"/>
            <a:ext cx="699135" cy="52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SNS Logo">
            <a:extLst>
              <a:ext uri="{FF2B5EF4-FFF2-40B4-BE49-F238E27FC236}">
                <a16:creationId xmlns:a16="http://schemas.microsoft.com/office/drawing/2014/main" id="{4910D38C-FC2A-54CD-3393-A941F0B68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" y="115062"/>
            <a:ext cx="658298" cy="3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1118</Words>
  <Application>Microsoft Office PowerPoint</Application>
  <PresentationFormat>On-screen Show (16:9)</PresentationFormat>
  <Paragraphs>148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DocuMind AI – Strict Document QA Agent</dc:title>
  <dc:subject>PptxGenJS Presentation</dc:subject>
  <dc:creator>Kavinila S</dc:creator>
  <cp:lastModifiedBy>KAVINILA S</cp:lastModifiedBy>
  <cp:revision>9</cp:revision>
  <dcterms:created xsi:type="dcterms:W3CDTF">2026-05-07T09:35:57Z</dcterms:created>
  <dcterms:modified xsi:type="dcterms:W3CDTF">2026-05-12T11:30:29Z</dcterms:modified>
</cp:coreProperties>
</file>